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329" r:id="rId4"/>
    <p:sldId id="330" r:id="rId5"/>
    <p:sldId id="320" r:id="rId6"/>
    <p:sldId id="334" r:id="rId7"/>
    <p:sldId id="336" r:id="rId8"/>
    <p:sldId id="316" r:id="rId9"/>
    <p:sldId id="331" r:id="rId10"/>
    <p:sldId id="314" r:id="rId11"/>
    <p:sldId id="335" r:id="rId12"/>
    <p:sldId id="332" r:id="rId13"/>
    <p:sldId id="319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  <a:srgbClr val="F2A130"/>
    <a:srgbClr val="131313"/>
    <a:srgbClr val="151515"/>
    <a:srgbClr val="28CA40"/>
    <a:srgbClr val="FFBD2E"/>
    <a:srgbClr val="FF5E57"/>
    <a:srgbClr val="1D537C"/>
    <a:srgbClr val="0D1021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73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916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4005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041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37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11.05.2021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36618"/>
          </a:xfrm>
        </p:spPr>
        <p:txBody>
          <a:bodyPr>
            <a:normAutofit/>
          </a:bodyPr>
          <a:lstStyle/>
          <a:p>
            <a:r>
              <a:rPr lang="en-US" sz="4400" b="1" noProof="1"/>
              <a:t>3-dars</a:t>
            </a:r>
          </a:p>
          <a:p>
            <a:r>
              <a:rPr lang="en-US" sz="4400" b="1" noProof="1"/>
              <a:t>Inheritance.</a:t>
            </a:r>
          </a:p>
          <a:p>
            <a:r>
              <a:rPr lang="en-US" sz="4400" b="1" noProof="1"/>
              <a:t>Polymorphism</a:t>
            </a:r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59" y="0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</a:t>
            </a:r>
            <a:r>
              <a:rPr lang="en-US" b="1" dirty="0">
                <a:solidFill>
                  <a:srgbClr val="F2A130"/>
                </a:solidFill>
              </a:rPr>
              <a:t>Class variable vs object variable</a:t>
            </a:r>
            <a:endParaRPr lang="en-US" b="1" noProof="1">
              <a:solidFill>
                <a:srgbClr val="F2A130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841A4D-116E-475E-8A35-BBE98BCC7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37" y="1273899"/>
            <a:ext cx="10123503" cy="529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D38897D-9F58-4E28-AFDC-A26ED24D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59" y="-213064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</a:t>
            </a:r>
            <a:r>
              <a:rPr lang="en-US" b="1" dirty="0">
                <a:solidFill>
                  <a:srgbClr val="1D537C"/>
                </a:solidFill>
              </a:rPr>
              <a:t>Class variable vs object variable</a:t>
            </a:r>
            <a:endParaRPr lang="en-US" b="1" noProof="1">
              <a:solidFill>
                <a:srgbClr val="1D537C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7DFF98-C514-4149-8FE3-99EB33753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89" y="857250"/>
            <a:ext cx="11430000" cy="6000750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E08B909-F7B5-4B9E-8BE3-30BD95210A96}"/>
              </a:ext>
            </a:extLst>
          </p:cNvPr>
          <p:cNvSpPr/>
          <p:nvPr/>
        </p:nvSpPr>
        <p:spPr>
          <a:xfrm>
            <a:off x="870012" y="5681709"/>
            <a:ext cx="10289219" cy="133165"/>
          </a:xfrm>
          <a:prstGeom prst="round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C8A3877-65CC-4AEB-B7A8-B401063D3A51}"/>
              </a:ext>
            </a:extLst>
          </p:cNvPr>
          <p:cNvSpPr/>
          <p:nvPr/>
        </p:nvSpPr>
        <p:spPr>
          <a:xfrm>
            <a:off x="11026066" y="1704513"/>
            <a:ext cx="133165" cy="4110361"/>
          </a:xfrm>
          <a:prstGeom prst="round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4E8B4FC1-CD0D-4092-95A3-654D7D472C09}"/>
              </a:ext>
            </a:extLst>
          </p:cNvPr>
          <p:cNvSpPr/>
          <p:nvPr/>
        </p:nvSpPr>
        <p:spPr>
          <a:xfrm>
            <a:off x="8792772" y="3636793"/>
            <a:ext cx="1837677" cy="44166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variable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A9C69108-BBC4-48AA-BCEF-D69ED4CB6977}"/>
              </a:ext>
            </a:extLst>
          </p:cNvPr>
          <p:cNvCxnSpPr>
            <a:stCxn id="14" idx="1"/>
          </p:cNvCxnSpPr>
          <p:nvPr/>
        </p:nvCxnSpPr>
        <p:spPr>
          <a:xfrm flipH="1">
            <a:off x="7812350" y="3857625"/>
            <a:ext cx="980422" cy="10162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D2EADB6-2A4F-41FF-A6BB-7866782157B2}"/>
              </a:ext>
            </a:extLst>
          </p:cNvPr>
          <p:cNvSpPr/>
          <p:nvPr/>
        </p:nvSpPr>
        <p:spPr>
          <a:xfrm>
            <a:off x="8792771" y="5819313"/>
            <a:ext cx="1837677" cy="44166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 variable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C87F271A-C9C3-42F3-A8B3-2131116BDECA}"/>
              </a:ext>
            </a:extLst>
          </p:cNvPr>
          <p:cNvCxnSpPr/>
          <p:nvPr/>
        </p:nvCxnSpPr>
        <p:spPr>
          <a:xfrm flipH="1" flipV="1">
            <a:off x="7812350" y="5681709"/>
            <a:ext cx="980422" cy="3190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02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03" y="-177554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    Static </a:t>
            </a:r>
            <a:r>
              <a:rPr lang="en-US" b="1" noProof="1">
                <a:solidFill>
                  <a:srgbClr val="0070C0"/>
                </a:solidFill>
              </a:rPr>
              <a:t>metodlar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832509-07A8-4B2D-8719-A0DACE1CB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38" y="740145"/>
            <a:ext cx="10972061" cy="6107781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3F657B8-A8BA-4914-8010-07DB473AC7C9}"/>
              </a:ext>
            </a:extLst>
          </p:cNvPr>
          <p:cNvSpPr/>
          <p:nvPr/>
        </p:nvSpPr>
        <p:spPr>
          <a:xfrm>
            <a:off x="1376039" y="6205491"/>
            <a:ext cx="9871969" cy="79899"/>
          </a:xfrm>
          <a:prstGeom prst="round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65B3C9A-1A61-4E0A-87E4-5FB59257281A}"/>
              </a:ext>
            </a:extLst>
          </p:cNvPr>
          <p:cNvSpPr/>
          <p:nvPr/>
        </p:nvSpPr>
        <p:spPr>
          <a:xfrm>
            <a:off x="11141476" y="1544715"/>
            <a:ext cx="106532" cy="4740675"/>
          </a:xfrm>
          <a:prstGeom prst="round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E8941C7-0230-4DBD-B2A4-5F8E78106D0A}"/>
              </a:ext>
            </a:extLst>
          </p:cNvPr>
          <p:cNvSpPr/>
          <p:nvPr/>
        </p:nvSpPr>
        <p:spPr>
          <a:xfrm>
            <a:off x="7838983" y="5422036"/>
            <a:ext cx="2929631" cy="7734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Class bilan ham, obyekt bilan ham ishlatsa bo’ladi</a:t>
            </a:r>
          </a:p>
        </p:txBody>
      </p:sp>
    </p:spTree>
    <p:extLst>
      <p:ext uri="{BB962C8B-B14F-4D97-AF65-F5344CB8AC3E}">
        <p14:creationId xmlns:p14="http://schemas.microsoft.com/office/powerpoint/2010/main" val="3004497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343747A-D483-4918-80B5-8A44378B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565" y="170921"/>
            <a:ext cx="10972060" cy="1325563"/>
          </a:xfrm>
        </p:spPr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                          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D83D66D-A8E2-490E-8F5C-C25A1529E051}"/>
              </a:ext>
            </a:extLst>
          </p:cNvPr>
          <p:cNvSpPr txBox="1">
            <a:spLocks/>
          </p:cNvSpPr>
          <p:nvPr/>
        </p:nvSpPr>
        <p:spPr>
          <a:xfrm>
            <a:off x="796496" y="-371668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noProof="1">
                <a:solidFill>
                  <a:srgbClr val="0070C0"/>
                </a:solidFill>
              </a:rPr>
              <a:t>                        Inheritance (vorislik)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CCCF527-368B-4526-AA21-554391BF9896}"/>
              </a:ext>
            </a:extLst>
          </p:cNvPr>
          <p:cNvSpPr/>
          <p:nvPr/>
        </p:nvSpPr>
        <p:spPr>
          <a:xfrm>
            <a:off x="4403324" y="3036163"/>
            <a:ext cx="2814222" cy="28408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F0DB65-C29D-4BB8-808F-ECE12CA22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383" y="769801"/>
            <a:ext cx="10266285" cy="6099885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E2221E8-2722-484D-B72B-CC632E3661F8}"/>
              </a:ext>
            </a:extLst>
          </p:cNvPr>
          <p:cNvSpPr/>
          <p:nvPr/>
        </p:nvSpPr>
        <p:spPr>
          <a:xfrm>
            <a:off x="1633491" y="6232124"/>
            <a:ext cx="9250532" cy="142043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55D4DEA-24C8-4E19-9416-C9A99ECB490E}"/>
              </a:ext>
            </a:extLst>
          </p:cNvPr>
          <p:cNvSpPr/>
          <p:nvPr/>
        </p:nvSpPr>
        <p:spPr>
          <a:xfrm>
            <a:off x="10777491" y="1552775"/>
            <a:ext cx="106532" cy="4741493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D383025-6518-469C-B43C-7F17DC391364}"/>
              </a:ext>
            </a:extLst>
          </p:cNvPr>
          <p:cNvSpPr/>
          <p:nvPr/>
        </p:nvSpPr>
        <p:spPr>
          <a:xfrm>
            <a:off x="6223247" y="4474344"/>
            <a:ext cx="3344196" cy="385583"/>
          </a:xfrm>
          <a:prstGeom prst="roundRect">
            <a:avLst/>
          </a:prstGeom>
          <a:solidFill>
            <a:srgbClr val="28C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 olindi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05878F80-B027-4180-8DA2-947F33B69FDB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4935984" y="4660777"/>
            <a:ext cx="1287263" cy="63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1552A6E-4009-4140-AF73-61936EDF376F}"/>
              </a:ext>
            </a:extLst>
          </p:cNvPr>
          <p:cNvSpPr/>
          <p:nvPr/>
        </p:nvSpPr>
        <p:spPr>
          <a:xfrm>
            <a:off x="5657899" y="1502843"/>
            <a:ext cx="3344196" cy="385583"/>
          </a:xfrm>
          <a:prstGeom prst="roundRect">
            <a:avLst/>
          </a:prstGeom>
          <a:solidFill>
            <a:srgbClr val="28C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Ota class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AEE18D6E-4B62-4FB6-9232-470629F757C8}"/>
              </a:ext>
            </a:extLst>
          </p:cNvPr>
          <p:cNvCxnSpPr>
            <a:stCxn id="13" idx="1"/>
          </p:cNvCxnSpPr>
          <p:nvPr/>
        </p:nvCxnSpPr>
        <p:spPr>
          <a:xfrm flipH="1">
            <a:off x="3853457" y="1695635"/>
            <a:ext cx="1804442" cy="1851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37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343747A-D483-4918-80B5-8A44378B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565" y="170921"/>
            <a:ext cx="10972060" cy="1325563"/>
          </a:xfrm>
        </p:spPr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                          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CCCF527-368B-4526-AA21-554391BF9896}"/>
              </a:ext>
            </a:extLst>
          </p:cNvPr>
          <p:cNvSpPr/>
          <p:nvPr/>
        </p:nvSpPr>
        <p:spPr>
          <a:xfrm>
            <a:off x="4403324" y="3036163"/>
            <a:ext cx="2814222" cy="28408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D87BC3C-719F-4E26-AE5F-1EDC4FAAF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595" y="-11686"/>
            <a:ext cx="9144000" cy="6858000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97DE76E-F430-4A98-81FE-F50B2E7ED2F2}"/>
              </a:ext>
            </a:extLst>
          </p:cNvPr>
          <p:cNvSpPr/>
          <p:nvPr/>
        </p:nvSpPr>
        <p:spPr>
          <a:xfrm>
            <a:off x="1704512" y="201141"/>
            <a:ext cx="2405849" cy="632561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29B7E4B-5DFB-4C4F-9BF2-3DAD02EEE3D5}"/>
              </a:ext>
            </a:extLst>
          </p:cNvPr>
          <p:cNvSpPr/>
          <p:nvPr/>
        </p:nvSpPr>
        <p:spPr>
          <a:xfrm>
            <a:off x="7412855" y="5742286"/>
            <a:ext cx="2565832" cy="729535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24310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343747A-D483-4918-80B5-8A44378B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565" y="170921"/>
            <a:ext cx="10972060" cy="1325563"/>
          </a:xfrm>
        </p:spPr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                          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CCCF527-368B-4526-AA21-554391BF9896}"/>
              </a:ext>
            </a:extLst>
          </p:cNvPr>
          <p:cNvSpPr/>
          <p:nvPr/>
        </p:nvSpPr>
        <p:spPr>
          <a:xfrm>
            <a:off x="4403324" y="3036163"/>
            <a:ext cx="2814222" cy="28408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3E8F87D-A5E1-44E3-AB37-F1EA49123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89" y="905523"/>
            <a:ext cx="10507011" cy="3980842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2F217BF-A493-4612-A0C3-67B86362EC30}"/>
              </a:ext>
            </a:extLst>
          </p:cNvPr>
          <p:cNvSpPr/>
          <p:nvPr/>
        </p:nvSpPr>
        <p:spPr>
          <a:xfrm>
            <a:off x="1029811" y="721611"/>
            <a:ext cx="1828800" cy="1029808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1">
              <a:solidFill>
                <a:schemeClr val="tx1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4232FE0-F177-444C-BFA8-CAB9041655B4}"/>
              </a:ext>
            </a:extLst>
          </p:cNvPr>
          <p:cNvSpPr/>
          <p:nvPr/>
        </p:nvSpPr>
        <p:spPr>
          <a:xfrm>
            <a:off x="3091135" y="721611"/>
            <a:ext cx="1828800" cy="1029808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1">
              <a:solidFill>
                <a:schemeClr val="tx1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8F724F9-FE3F-4C22-B3DA-C6D9858574F9}"/>
              </a:ext>
            </a:extLst>
          </p:cNvPr>
          <p:cNvSpPr/>
          <p:nvPr/>
        </p:nvSpPr>
        <p:spPr>
          <a:xfrm>
            <a:off x="5810435" y="866174"/>
            <a:ext cx="1828800" cy="1029808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1">
              <a:solidFill>
                <a:schemeClr val="tx1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9CC79B91-296B-4430-9649-208CD79F52D6}"/>
              </a:ext>
            </a:extLst>
          </p:cNvPr>
          <p:cNvSpPr/>
          <p:nvPr/>
        </p:nvSpPr>
        <p:spPr>
          <a:xfrm>
            <a:off x="8886048" y="724130"/>
            <a:ext cx="1828800" cy="1029808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294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9B671CF-956B-43B6-BFEC-578C040E9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213" y="-131971"/>
            <a:ext cx="10972060" cy="1325563"/>
          </a:xfrm>
        </p:spPr>
        <p:txBody>
          <a:bodyPr/>
          <a:lstStyle/>
          <a:p>
            <a:r>
              <a:rPr lang="en-US" b="1" noProof="1">
                <a:solidFill>
                  <a:srgbClr val="1D537C"/>
                </a:solidFill>
              </a:rPr>
              <a:t>                  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8204FE-80AC-4C54-B21C-06712872E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194" y="-11686"/>
            <a:ext cx="90996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8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9B671CF-956B-43B6-BFEC-578C040E9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213" y="-131971"/>
            <a:ext cx="10972060" cy="1325563"/>
          </a:xfrm>
        </p:spPr>
        <p:txBody>
          <a:bodyPr/>
          <a:lstStyle/>
          <a:p>
            <a:pPr algn="ctr"/>
            <a:r>
              <a:rPr lang="en-US" b="1" noProof="1">
                <a:solidFill>
                  <a:srgbClr val="F2A130"/>
                </a:solidFill>
              </a:rPr>
              <a:t>Polymorphism(overriding – ustiga yozish)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46D3AC-C433-4703-8E41-665371BEE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984" y="1033762"/>
            <a:ext cx="9822032" cy="5835924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27D783C-FBD0-41EA-8377-9C2E8749A4DB}"/>
              </a:ext>
            </a:extLst>
          </p:cNvPr>
          <p:cNvSpPr/>
          <p:nvPr/>
        </p:nvSpPr>
        <p:spPr>
          <a:xfrm>
            <a:off x="1651247" y="6249880"/>
            <a:ext cx="8851036" cy="133165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7E21AA8B-046C-4D5A-A5DE-A8B7025E8E91}"/>
              </a:ext>
            </a:extLst>
          </p:cNvPr>
          <p:cNvSpPr/>
          <p:nvPr/>
        </p:nvSpPr>
        <p:spPr>
          <a:xfrm>
            <a:off x="10413507" y="1775534"/>
            <a:ext cx="88776" cy="4607511"/>
          </a:xfrm>
          <a:prstGeom prst="roundRect">
            <a:avLst/>
          </a:prstGeom>
          <a:solidFill>
            <a:srgbClr val="131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143D2A4-237F-4852-9053-A4834D92E489}"/>
              </a:ext>
            </a:extLst>
          </p:cNvPr>
          <p:cNvSpPr/>
          <p:nvPr/>
        </p:nvSpPr>
        <p:spPr>
          <a:xfrm>
            <a:off x="6747028" y="4350058"/>
            <a:ext cx="2760956" cy="93215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>
                <a:solidFill>
                  <a:schemeClr val="tx1"/>
                </a:solidFill>
                <a:latin typeface="Segoe Script" panose="030B0504020000000003" pitchFamily="66" charset="0"/>
              </a:rPr>
              <a:t>tanishtir() metodi override qilindi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B179AEA9-569E-45A4-B9FC-699C56DD292E}"/>
              </a:ext>
            </a:extLst>
          </p:cNvPr>
          <p:cNvCxnSpPr/>
          <p:nvPr/>
        </p:nvCxnSpPr>
        <p:spPr>
          <a:xfrm flipH="1">
            <a:off x="5220070" y="4802819"/>
            <a:ext cx="1500326" cy="3018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29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8363F3F-2B7D-431E-BA30-9FD074084481}"/>
              </a:ext>
            </a:extLst>
          </p:cNvPr>
          <p:cNvSpPr/>
          <p:nvPr/>
        </p:nvSpPr>
        <p:spPr>
          <a:xfrm>
            <a:off x="7075503" y="6199203"/>
            <a:ext cx="2663301" cy="515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DC297B6-2755-4499-8E91-33DE5CB7684E}"/>
              </a:ext>
            </a:extLst>
          </p:cNvPr>
          <p:cNvSpPr/>
          <p:nvPr/>
        </p:nvSpPr>
        <p:spPr>
          <a:xfrm>
            <a:off x="6923980" y="2470005"/>
            <a:ext cx="949911" cy="357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67E2EEA-7F1F-4444-94C4-AC264BD0177E}"/>
              </a:ext>
            </a:extLst>
          </p:cNvPr>
          <p:cNvSpPr/>
          <p:nvPr/>
        </p:nvSpPr>
        <p:spPr>
          <a:xfrm>
            <a:off x="9917562" y="1411549"/>
            <a:ext cx="727969" cy="45276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B144D70-BC0B-40FA-939D-F2C284638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184" y="1218"/>
            <a:ext cx="96436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615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8363F3F-2B7D-431E-BA30-9FD074084481}"/>
              </a:ext>
            </a:extLst>
          </p:cNvPr>
          <p:cNvSpPr/>
          <p:nvPr/>
        </p:nvSpPr>
        <p:spPr>
          <a:xfrm>
            <a:off x="7075503" y="6199203"/>
            <a:ext cx="2663301" cy="515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DC297B6-2755-4499-8E91-33DE5CB7684E}"/>
              </a:ext>
            </a:extLst>
          </p:cNvPr>
          <p:cNvSpPr/>
          <p:nvPr/>
        </p:nvSpPr>
        <p:spPr>
          <a:xfrm>
            <a:off x="6923980" y="2470005"/>
            <a:ext cx="949911" cy="357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67E2EEA-7F1F-4444-94C4-AC264BD0177E}"/>
              </a:ext>
            </a:extLst>
          </p:cNvPr>
          <p:cNvSpPr/>
          <p:nvPr/>
        </p:nvSpPr>
        <p:spPr>
          <a:xfrm>
            <a:off x="9917562" y="1411549"/>
            <a:ext cx="727969" cy="45276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98F09F-20DD-4785-8CA6-15B6A2BAB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639" y="1194585"/>
            <a:ext cx="7746031" cy="4457143"/>
          </a:xfrm>
          <a:prstGeom prst="rect">
            <a:avLst/>
          </a:prstGeom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86F1FE6-34FF-47F7-B1C9-21B467B6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59" y="-86157"/>
            <a:ext cx="10972060" cy="1325563"/>
          </a:xfrm>
        </p:spPr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                                </a:t>
            </a:r>
            <a:r>
              <a:rPr lang="en-US" b="1" noProof="1">
                <a:solidFill>
                  <a:srgbClr val="1D537C"/>
                </a:solidFill>
              </a:rPr>
              <a:t>Mashq qilamiz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CF5137B-8220-493A-B13D-47640AF4DB00}"/>
              </a:ext>
            </a:extLst>
          </p:cNvPr>
          <p:cNvSpPr/>
          <p:nvPr/>
        </p:nvSpPr>
        <p:spPr>
          <a:xfrm>
            <a:off x="2453195" y="5867705"/>
            <a:ext cx="6733685" cy="775602"/>
          </a:xfrm>
          <a:prstGeom prst="roundRect">
            <a:avLst/>
          </a:prstGeom>
          <a:solidFill>
            <a:srgbClr val="F2A13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>
                <a:solidFill>
                  <a:schemeClr val="tx1"/>
                </a:solidFill>
              </a:rPr>
              <a:t>Yuqoridagi ketma-ketlikda inheritance oling.</a:t>
            </a:r>
          </a:p>
        </p:txBody>
      </p:sp>
    </p:spTree>
    <p:extLst>
      <p:ext uri="{BB962C8B-B14F-4D97-AF65-F5344CB8AC3E}">
        <p14:creationId xmlns:p14="http://schemas.microsoft.com/office/powerpoint/2010/main" val="3749540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30E8918-245D-44AC-BF8E-26CDC4135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762000"/>
            <a:ext cx="8128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56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4548CA7-F646-4CD3-92F0-0E71C7EEF7B4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>
              <a:solidFill>
                <a:srgbClr val="0070C0"/>
              </a:solidFill>
            </a:endParaRPr>
          </a:p>
          <a:p>
            <a:endParaRPr lang="en-US" b="1" noProof="1">
              <a:solidFill>
                <a:srgbClr val="0070C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9CA251-5D70-448C-9407-DD89680C0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986" y="1696964"/>
            <a:ext cx="8254026" cy="307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7443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5459</TotalTime>
  <Words>72</Words>
  <Application>Microsoft Office PowerPoint</Application>
  <PresentationFormat>Широкоэкранный</PresentationFormat>
  <Paragraphs>27</Paragraphs>
  <Slides>13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Segoe Script</vt:lpstr>
      <vt:lpstr>Times New Roman</vt:lpstr>
      <vt:lpstr>Тема Office</vt:lpstr>
      <vt:lpstr>Презентация PowerPoint</vt:lpstr>
      <vt:lpstr>             Class variable vs object variable</vt:lpstr>
      <vt:lpstr>             Class variable vs object variable</vt:lpstr>
      <vt:lpstr>                               Static metodlar</vt:lpstr>
      <vt:lpstr>                          </vt:lpstr>
      <vt:lpstr>                          </vt:lpstr>
      <vt:lpstr>                          </vt:lpstr>
      <vt:lpstr>                   </vt:lpstr>
      <vt:lpstr>Polymorphism(overriding – ustiga yozish)</vt:lpstr>
      <vt:lpstr>Презентация PowerPoint</vt:lpstr>
      <vt:lpstr>                                Mashq qilamiz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285</cp:revision>
  <dcterms:created xsi:type="dcterms:W3CDTF">2021-01-26T11:27:43Z</dcterms:created>
  <dcterms:modified xsi:type="dcterms:W3CDTF">2021-05-11T11:00:22Z</dcterms:modified>
</cp:coreProperties>
</file>