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44" r:id="rId4"/>
    <p:sldId id="343" r:id="rId5"/>
    <p:sldId id="345" r:id="rId6"/>
    <p:sldId id="329" r:id="rId7"/>
    <p:sldId id="339" r:id="rId8"/>
    <p:sldId id="330" r:id="rId9"/>
    <p:sldId id="338" r:id="rId10"/>
    <p:sldId id="341" r:id="rId11"/>
    <p:sldId id="334" r:id="rId12"/>
    <p:sldId id="337" r:id="rId13"/>
    <p:sldId id="34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02020"/>
    <a:srgbClr val="080300"/>
    <a:srgbClr val="112435"/>
    <a:srgbClr val="0070C0"/>
    <a:srgbClr val="F2A130"/>
    <a:srgbClr val="000000"/>
    <a:srgbClr val="0A0120"/>
    <a:srgbClr val="99B0C8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8-dars</a:t>
            </a:r>
          </a:p>
          <a:p>
            <a:r>
              <a:rPr lang="en-US" sz="4400" b="1" noProof="1"/>
              <a:t>Python standard kutubxonasi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B7729-8E08-49BB-A7BA-CB3E8912C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0"/>
            <a:ext cx="11604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301841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</a:t>
            </a:r>
            <a:r>
              <a:rPr lang="en-US" sz="4800" b="1" noProof="1">
                <a:solidFill>
                  <a:srgbClr val="0070C0"/>
                </a:solidFill>
              </a:rPr>
              <a:t>collections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05A57C-815A-48F0-95BC-6F859BF32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673639"/>
            <a:ext cx="7810500" cy="3362325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70B3B92-7789-4A3A-9C47-30B80B7DE803}"/>
              </a:ext>
            </a:extLst>
          </p:cNvPr>
          <p:cNvSpPr/>
          <p:nvPr/>
        </p:nvSpPr>
        <p:spPr>
          <a:xfrm>
            <a:off x="6022389" y="4603523"/>
            <a:ext cx="4474346" cy="1827152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Counter obyekt beradi, bu yerda faylni o’qib uni obyekt sifatida qaytardik(split() yordamida esa so’zlar listga joylandi)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58D0503-25BA-491E-BE93-37AFFAF904C9}"/>
              </a:ext>
            </a:extLst>
          </p:cNvPr>
          <p:cNvSpPr/>
          <p:nvPr/>
        </p:nvSpPr>
        <p:spPr>
          <a:xfrm>
            <a:off x="7386221" y="1616267"/>
            <a:ext cx="142043" cy="1812733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4B3DEB1-18CC-4E50-998B-DA780B8010B1}"/>
              </a:ext>
            </a:extLst>
          </p:cNvPr>
          <p:cNvSpPr/>
          <p:nvPr/>
        </p:nvSpPr>
        <p:spPr>
          <a:xfrm>
            <a:off x="843379" y="3311371"/>
            <a:ext cx="6684885" cy="186431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323F4C6-5929-475F-843A-77E003F77246}"/>
              </a:ext>
            </a:extLst>
          </p:cNvPr>
          <p:cNvSpPr/>
          <p:nvPr/>
        </p:nvSpPr>
        <p:spPr>
          <a:xfrm>
            <a:off x="963048" y="4429956"/>
            <a:ext cx="3124939" cy="11629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/>
              <a:t>.most_common() metodi orqali eng ko’p qatnashgan so’zlarni aniqlasa bo’ladi</a:t>
            </a:r>
          </a:p>
        </p:txBody>
      </p:sp>
      <p:pic>
        <p:nvPicPr>
          <p:cNvPr id="11" name="mp4">
            <a:hlinkClick r:id="" action="ppaction://media"/>
            <a:extLst>
              <a:ext uri="{FF2B5EF4-FFF2-40B4-BE49-F238E27FC236}">
                <a16:creationId xmlns:a16="http://schemas.microsoft.com/office/drawing/2014/main" id="{67F851B6-024C-485D-AD6A-E088A03AE2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60049" y="1074503"/>
            <a:ext cx="3938438" cy="296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CE490E-EF23-47EC-B322-DC531EAB7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871351"/>
            <a:ext cx="6645242" cy="4319407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B28EDD9-D57C-4F34-82FC-B42A338A4E42}"/>
              </a:ext>
            </a:extLst>
          </p:cNvPr>
          <p:cNvSpPr txBox="1">
            <a:spLocks/>
          </p:cNvSpPr>
          <p:nvPr/>
        </p:nvSpPr>
        <p:spPr>
          <a:xfrm>
            <a:off x="536359" y="-301841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70C0"/>
                </a:solidFill>
              </a:rPr>
              <a:t>                         </a:t>
            </a:r>
            <a:r>
              <a:rPr lang="en-US" sz="4800" b="1" noProof="1">
                <a:solidFill>
                  <a:srgbClr val="0070C0"/>
                </a:solidFill>
              </a:rPr>
              <a:t>collections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817531-FDE2-4C60-B20C-B96B7246A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244" y="871351"/>
            <a:ext cx="6790243" cy="4801769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4B088AF-DD6A-40D9-8524-99A71C2997C9}"/>
              </a:ext>
            </a:extLst>
          </p:cNvPr>
          <p:cNvSpPr/>
          <p:nvPr/>
        </p:nvSpPr>
        <p:spPr>
          <a:xfrm>
            <a:off x="772357" y="4607511"/>
            <a:ext cx="4335887" cy="1065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CC77B1-3505-4D27-B359-1E75716A9D57}"/>
              </a:ext>
            </a:extLst>
          </p:cNvPr>
          <p:cNvSpPr/>
          <p:nvPr/>
        </p:nvSpPr>
        <p:spPr>
          <a:xfrm>
            <a:off x="662597" y="5567728"/>
            <a:ext cx="4672883" cy="109052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</a:rPr>
              <a:t>popleft() – chap tarafdan o’cherish uchun, </a:t>
            </a:r>
          </a:p>
          <a:p>
            <a:pPr algn="ctr"/>
            <a:r>
              <a:rPr lang="en-US" sz="2000" noProof="1">
                <a:solidFill>
                  <a:schemeClr val="tx1"/>
                </a:solidFill>
              </a:rPr>
              <a:t>appendleft() chap tarafga qo’shish uchun</a:t>
            </a:r>
          </a:p>
        </p:txBody>
      </p:sp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</a:t>
            </a:r>
            <a:r>
              <a:rPr lang="en-US" sz="4800" b="1" noProof="1">
                <a:solidFill>
                  <a:srgbClr val="0070C0"/>
                </a:solidFill>
              </a:rPr>
              <a:t>bisect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C7FBE3-082E-4E05-A4B7-E436C87B0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928116"/>
            <a:ext cx="7810500" cy="29718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AFEBFF8-3BDC-4E4A-9F66-AB3D5784E1F8}"/>
              </a:ext>
            </a:extLst>
          </p:cNvPr>
          <p:cNvSpPr/>
          <p:nvPr/>
        </p:nvSpPr>
        <p:spPr>
          <a:xfrm>
            <a:off x="3385724" y="4803142"/>
            <a:ext cx="4169664" cy="1687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bisectdagi bisect metodi sonning tartiblangan sonlar to’plamida qaysi oraliqqa to’g’ri kelishini aytadi 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51FF45C-0AD6-4547-82FF-FF9E2C8E178A}"/>
              </a:ext>
            </a:extLst>
          </p:cNvPr>
          <p:cNvSpPr/>
          <p:nvPr/>
        </p:nvSpPr>
        <p:spPr>
          <a:xfrm>
            <a:off x="8887063" y="2679192"/>
            <a:ext cx="2606040" cy="74066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>
                <a:solidFill>
                  <a:schemeClr val="tx1"/>
                </a:solidFill>
                <a:latin typeface="Century" panose="02040604050505020304" pitchFamily="18" charset="0"/>
              </a:rPr>
              <a:t>natija: 5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477DC0D-5709-4744-A9BF-5D72FD3E360A}"/>
              </a:ext>
            </a:extLst>
          </p:cNvPr>
          <p:cNvSpPr/>
          <p:nvPr/>
        </p:nvSpPr>
        <p:spPr>
          <a:xfrm>
            <a:off x="7424928" y="1837944"/>
            <a:ext cx="130460" cy="1481328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DC677D-519E-4F62-B944-94B97AEC571B}"/>
              </a:ext>
            </a:extLst>
          </p:cNvPr>
          <p:cNvSpPr/>
          <p:nvPr/>
        </p:nvSpPr>
        <p:spPr>
          <a:xfrm>
            <a:off x="804672" y="3163507"/>
            <a:ext cx="6620256" cy="155765"/>
          </a:xfrm>
          <a:prstGeom prst="round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CEE8EDD-CAB4-401A-B67F-62882A97E168}"/>
              </a:ext>
            </a:extLst>
          </p:cNvPr>
          <p:cNvCxnSpPr>
            <a:stCxn id="7" idx="1"/>
          </p:cNvCxnSpPr>
          <p:nvPr/>
        </p:nvCxnSpPr>
        <p:spPr>
          <a:xfrm flipH="1">
            <a:off x="5861304" y="3049524"/>
            <a:ext cx="3025759" cy="4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32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92696F-6608-44E5-B7A5-D2FFC08F0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87" y="3760670"/>
            <a:ext cx="7810500" cy="29718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D142712-478E-4700-ABFC-ACAC1BC6EE0A}"/>
              </a:ext>
            </a:extLst>
          </p:cNvPr>
          <p:cNvSpPr/>
          <p:nvPr/>
        </p:nvSpPr>
        <p:spPr>
          <a:xfrm>
            <a:off x="7360920" y="6135568"/>
            <a:ext cx="2770632" cy="466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/>
              <a:t>float string ko’rinishida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1E5767C-8EE3-4F7B-9578-506B81A34A6C}"/>
              </a:ext>
            </a:extLst>
          </p:cNvPr>
          <p:cNvCxnSpPr/>
          <p:nvPr/>
        </p:nvCxnSpPr>
        <p:spPr>
          <a:xfrm flipV="1">
            <a:off x="9436608" y="5660136"/>
            <a:ext cx="557784" cy="4754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1A54C02-6ED8-494F-935E-B418E5946A3E}"/>
              </a:ext>
            </a:extLst>
          </p:cNvPr>
          <p:cNvCxnSpPr/>
          <p:nvPr/>
        </p:nvCxnSpPr>
        <p:spPr>
          <a:xfrm flipH="1" flipV="1">
            <a:off x="7735824" y="5669168"/>
            <a:ext cx="457200" cy="4573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6A3BD6-CBE4-422E-8005-EF9FCA084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0"/>
            <a:ext cx="5715000" cy="4276725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ACCAEDB-CB25-4EAC-A617-FD42BA6C1ECA}"/>
              </a:ext>
            </a:extLst>
          </p:cNvPr>
          <p:cNvSpPr/>
          <p:nvPr/>
        </p:nvSpPr>
        <p:spPr>
          <a:xfrm>
            <a:off x="293512" y="73152"/>
            <a:ext cx="5715000" cy="557784"/>
          </a:xfrm>
          <a:prstGeom prst="roundRect">
            <a:avLst/>
          </a:prstGeom>
          <a:solidFill>
            <a:srgbClr val="99B0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/>
              <a:t>Decimaldan foydalanmagan bank xodimi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0278738-2664-4FF2-BFDD-52879F6994D9}"/>
              </a:ext>
            </a:extLst>
          </p:cNvPr>
          <p:cNvSpPr/>
          <p:nvPr/>
        </p:nvSpPr>
        <p:spPr>
          <a:xfrm>
            <a:off x="6922008" y="1135555"/>
            <a:ext cx="4398264" cy="167086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decimal moduli float ustida amallar bajarishda aniqlikni ta’minlaydi </a:t>
            </a:r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926387D-B55A-48BB-8DD8-25CC614A549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random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FA9E8E-8719-4A88-B72B-E789B8DA3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750507"/>
            <a:ext cx="6591920" cy="31994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C4DBA9-EA17-4912-A755-D9F34106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04" y="3816802"/>
            <a:ext cx="6265783" cy="304119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C933930-7FAA-4D26-85D0-CB48E11F506E}"/>
              </a:ext>
            </a:extLst>
          </p:cNvPr>
          <p:cNvSpPr/>
          <p:nvPr/>
        </p:nvSpPr>
        <p:spPr>
          <a:xfrm>
            <a:off x="6300216" y="1481328"/>
            <a:ext cx="100584" cy="2029968"/>
          </a:xfrm>
          <a:prstGeom prst="round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D79771B-BD80-4CBD-A914-B529988AEBB9}"/>
              </a:ext>
            </a:extLst>
          </p:cNvPr>
          <p:cNvSpPr/>
          <p:nvPr/>
        </p:nvSpPr>
        <p:spPr>
          <a:xfrm>
            <a:off x="731520" y="3355848"/>
            <a:ext cx="5568696" cy="155448"/>
          </a:xfrm>
          <a:prstGeom prst="round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B67E09C-EFBB-4261-92F1-029C4005BBC7}"/>
              </a:ext>
            </a:extLst>
          </p:cNvPr>
          <p:cNvSpPr/>
          <p:nvPr/>
        </p:nvSpPr>
        <p:spPr>
          <a:xfrm>
            <a:off x="6036278" y="6297168"/>
            <a:ext cx="5375434" cy="762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7A85B7A-F86A-4A05-B728-2198E1EDB90D}"/>
              </a:ext>
            </a:extLst>
          </p:cNvPr>
          <p:cNvSpPr/>
          <p:nvPr/>
        </p:nvSpPr>
        <p:spPr>
          <a:xfrm>
            <a:off x="11361420" y="4343400"/>
            <a:ext cx="100584" cy="202996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E377444-DB24-46D2-AB7C-61A4F99CF3B3}"/>
              </a:ext>
            </a:extLst>
          </p:cNvPr>
          <p:cNvSpPr/>
          <p:nvPr/>
        </p:nvSpPr>
        <p:spPr>
          <a:xfrm>
            <a:off x="7518347" y="1725870"/>
            <a:ext cx="3511296" cy="1115568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shuffle elementlar o’rnini almashtirib yuboradi 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B38F3BB-9B77-40BA-BB3C-074D32FF723D}"/>
              </a:ext>
            </a:extLst>
          </p:cNvPr>
          <p:cNvSpPr/>
          <p:nvPr/>
        </p:nvSpPr>
        <p:spPr>
          <a:xfrm>
            <a:off x="1214484" y="5001069"/>
            <a:ext cx="3622691" cy="11155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choice listdagi biron tasodifiy elementni beradi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843CA6B-E7A0-4FB3-BE74-1C9C9DFCAE2C}"/>
              </a:ext>
            </a:extLst>
          </p:cNvPr>
          <p:cNvCxnSpPr>
            <a:stCxn id="14" idx="3"/>
          </p:cNvCxnSpPr>
          <p:nvPr/>
        </p:nvCxnSpPr>
        <p:spPr>
          <a:xfrm>
            <a:off x="4837175" y="5558853"/>
            <a:ext cx="795529" cy="2292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6B7D2FE-AAC4-4F39-91E4-6139276DEA71}"/>
              </a:ext>
            </a:extLst>
          </p:cNvPr>
          <p:cNvCxnSpPr>
            <a:stCxn id="13" idx="1"/>
          </p:cNvCxnSpPr>
          <p:nvPr/>
        </p:nvCxnSpPr>
        <p:spPr>
          <a:xfrm flipH="1">
            <a:off x="6885432" y="2283654"/>
            <a:ext cx="632915" cy="2492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48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</a:t>
            </a:r>
            <a:endParaRPr lang="en-US" b="1" noProof="1">
              <a:solidFill>
                <a:srgbClr val="0070C0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2CD578D-A6E3-445E-9426-C5BB1047936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operator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15734BE-3807-474D-BBE0-97A040C83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750506"/>
            <a:ext cx="7158848" cy="272385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0C21DD0-FA22-4F24-9F2C-52FF9DE3D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4113908"/>
            <a:ext cx="6983730" cy="265722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3BFB566-AD41-40B9-9EF4-DEB3AF859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47" y="2431532"/>
            <a:ext cx="6571640" cy="2500429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E1C9914-C4C6-4A69-B69D-5649813B6D08}"/>
              </a:ext>
            </a:extLst>
          </p:cNvPr>
          <p:cNvSpPr/>
          <p:nvPr/>
        </p:nvSpPr>
        <p:spPr>
          <a:xfrm>
            <a:off x="6793992" y="1572553"/>
            <a:ext cx="155448" cy="859360"/>
          </a:xfrm>
          <a:prstGeom prst="round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A4B998B-4CD3-4D03-8279-9044F7F70D98}"/>
              </a:ext>
            </a:extLst>
          </p:cNvPr>
          <p:cNvSpPr/>
          <p:nvPr/>
        </p:nvSpPr>
        <p:spPr>
          <a:xfrm>
            <a:off x="786384" y="2802375"/>
            <a:ext cx="4540463" cy="105417"/>
          </a:xfrm>
          <a:prstGeom prst="roundRect">
            <a:avLst/>
          </a:prstGeom>
          <a:solidFill>
            <a:srgbClr val="112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31B5647-AE38-42D8-9A28-51A75B8FEA61}"/>
              </a:ext>
            </a:extLst>
          </p:cNvPr>
          <p:cNvSpPr/>
          <p:nvPr/>
        </p:nvSpPr>
        <p:spPr>
          <a:xfrm>
            <a:off x="6638544" y="4958621"/>
            <a:ext cx="155448" cy="1256863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8D89CAE-AEB4-4DE2-B54B-1C029393BF36}"/>
              </a:ext>
            </a:extLst>
          </p:cNvPr>
          <p:cNvSpPr/>
          <p:nvPr/>
        </p:nvSpPr>
        <p:spPr>
          <a:xfrm>
            <a:off x="786384" y="6107494"/>
            <a:ext cx="5897880" cy="107990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B326D26-DD38-4102-9A2F-27117668B400}"/>
              </a:ext>
            </a:extLst>
          </p:cNvPr>
          <p:cNvSpPr/>
          <p:nvPr/>
        </p:nvSpPr>
        <p:spPr>
          <a:xfrm>
            <a:off x="5815584" y="4236552"/>
            <a:ext cx="5596128" cy="161906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B8C754C-5229-40DC-AE93-41FD93B97E78}"/>
              </a:ext>
            </a:extLst>
          </p:cNvPr>
          <p:cNvSpPr/>
          <p:nvPr/>
        </p:nvSpPr>
        <p:spPr>
          <a:xfrm>
            <a:off x="11265572" y="3182038"/>
            <a:ext cx="146140" cy="12164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382DC4-DAA0-47D5-81E4-9A5C8F1D0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583119"/>
            <a:ext cx="7810500" cy="4448175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D02A5DA-4475-4988-8E08-C69F785CAB8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turtle(toshbaqa) moduli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D25111-4AE6-4129-AE5E-F3DACECAFD26}"/>
              </a:ext>
            </a:extLst>
          </p:cNvPr>
          <p:cNvSpPr/>
          <p:nvPr/>
        </p:nvSpPr>
        <p:spPr>
          <a:xfrm>
            <a:off x="7419904" y="1453896"/>
            <a:ext cx="100584" cy="299923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BE36C8A-576C-4088-AB24-CFA5CC47F425}"/>
              </a:ext>
            </a:extLst>
          </p:cNvPr>
          <p:cNvSpPr/>
          <p:nvPr/>
        </p:nvSpPr>
        <p:spPr>
          <a:xfrm>
            <a:off x="849940" y="4361688"/>
            <a:ext cx="6620256" cy="914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092C3DF-29A3-4595-9EDE-D5AE4196E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952" y="3055748"/>
            <a:ext cx="4281535" cy="3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8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B82A04-ABE8-4DB1-8E7C-9E735B6BA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610680"/>
            <a:ext cx="7810500" cy="56483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8D1E53-67E5-4068-96AE-670AB7CED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302" y="1530907"/>
            <a:ext cx="3796185" cy="3796185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6EE7547-886D-4FEB-9BD0-928BFB1D4A9B}"/>
              </a:ext>
            </a:extLst>
          </p:cNvPr>
          <p:cNvSpPr/>
          <p:nvPr/>
        </p:nvSpPr>
        <p:spPr>
          <a:xfrm>
            <a:off x="7415784" y="1481328"/>
            <a:ext cx="118872" cy="4169664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D1981E6-9D15-489E-B6BD-C64748279FD1}"/>
              </a:ext>
            </a:extLst>
          </p:cNvPr>
          <p:cNvSpPr/>
          <p:nvPr/>
        </p:nvSpPr>
        <p:spPr>
          <a:xfrm>
            <a:off x="859536" y="5572661"/>
            <a:ext cx="6675120" cy="142339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8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F82CAB8-BF0F-488C-9D30-0DF6A9C8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Bonus: </a:t>
            </a:r>
            <a:r>
              <a:rPr lang="en-US" b="1" noProof="1">
                <a:solidFill>
                  <a:srgbClr val="0070C0"/>
                </a:solidFill>
              </a:rPr>
              <a:t>Luhn algoritmi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EE1D8E-FD0F-43B7-9D6B-E3A712EB6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8" y="847986"/>
            <a:ext cx="4381500" cy="27432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B06E591-87F4-4E3F-AF4E-D969E8919427}"/>
              </a:ext>
            </a:extLst>
          </p:cNvPr>
          <p:cNvSpPr/>
          <p:nvPr/>
        </p:nvSpPr>
        <p:spPr>
          <a:xfrm>
            <a:off x="6801469" y="3970068"/>
            <a:ext cx="4999164" cy="2624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/>
              <a:t>16 talik raqamlar kombinatsiyasini biron kartaga tegishli yoki yo’qligini aniqlashda yordam beruvchi algoritm. 1960-yillarda ishlab chiqilgan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DCF08C0-5252-4F03-ADA9-AD51345BF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755398"/>
            <a:ext cx="6114288" cy="611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ECA833-204C-4418-A6BB-3FAFEF8C0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57" y="905256"/>
            <a:ext cx="11566830" cy="47012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C9657E-67A8-485B-960F-1381B3116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31" y="3755392"/>
            <a:ext cx="10464737" cy="311429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0EBF2C7-0719-4668-AB03-8F9188EEE7D8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Bonus: Luhn algoritmi</a:t>
            </a:r>
            <a:endParaRPr lang="en-US" sz="4800" b="1" noProof="1">
              <a:solidFill>
                <a:srgbClr val="F2A1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054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990603-153E-4339-AE8B-DEDCA5433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85" y="11686"/>
            <a:ext cx="5683688" cy="68580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AB9A6F0-214E-4CB6-9BD9-093E63E5A7D7}"/>
              </a:ext>
            </a:extLst>
          </p:cNvPr>
          <p:cNvSpPr/>
          <p:nvPr/>
        </p:nvSpPr>
        <p:spPr>
          <a:xfrm>
            <a:off x="1225296" y="128016"/>
            <a:ext cx="5925312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noProof="1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Darsimiz tugadi!!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CB0994A-BFEC-44F6-A8AD-8281299C9609}"/>
              </a:ext>
            </a:extLst>
          </p:cNvPr>
          <p:cNvSpPr/>
          <p:nvPr/>
        </p:nvSpPr>
        <p:spPr>
          <a:xfrm>
            <a:off x="6805374" y="3537752"/>
            <a:ext cx="5003911" cy="255117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</a:rPr>
              <a:t>Python standard kutubxonasi haqida ko’proq bilish uchun: </a:t>
            </a:r>
            <a:r>
              <a:rPr lang="en-US" sz="2000" noProof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</a:t>
            </a:r>
            <a:endParaRPr lang="en-US" sz="2000" noProof="1">
              <a:solidFill>
                <a:schemeClr val="tx1"/>
              </a:solidFill>
            </a:endParaRPr>
          </a:p>
          <a:p>
            <a:pPr algn="ctr"/>
            <a:endParaRPr lang="en-US" sz="2000" noProof="1">
              <a:solidFill>
                <a:schemeClr val="tx1"/>
              </a:solidFill>
            </a:endParaRPr>
          </a:p>
          <a:p>
            <a:pPr algn="ctr"/>
            <a:endParaRPr lang="en-US" sz="2000" noProof="1">
              <a:solidFill>
                <a:schemeClr val="tx1"/>
              </a:solidFill>
            </a:endParaRPr>
          </a:p>
          <a:p>
            <a:pPr algn="ctr"/>
            <a:r>
              <a:rPr lang="en-US" sz="2000" noProof="1">
                <a:solidFill>
                  <a:schemeClr val="tx1"/>
                </a:solidFill>
              </a:rPr>
              <a:t>yoki googleda “Python standard library” deb qidirish kifoya </a:t>
            </a:r>
          </a:p>
        </p:txBody>
      </p:sp>
    </p:spTree>
    <p:extLst>
      <p:ext uri="{BB962C8B-B14F-4D97-AF65-F5344CB8AC3E}">
        <p14:creationId xmlns:p14="http://schemas.microsoft.com/office/powerpoint/2010/main" val="4246208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6664</TotalTime>
  <Words>172</Words>
  <Application>Microsoft Office PowerPoint</Application>
  <PresentationFormat>Широкоэкранный</PresentationFormat>
  <Paragraphs>29</Paragraphs>
  <Slides>13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Century</vt:lpstr>
      <vt:lpstr>MV Boli</vt:lpstr>
      <vt:lpstr>Тема Office</vt:lpstr>
      <vt:lpstr>Презентация PowerPoint</vt:lpstr>
      <vt:lpstr>Презентация PowerPoint</vt:lpstr>
      <vt:lpstr>                         collections moduli</vt:lpstr>
      <vt:lpstr>Презентация PowerPoint</vt:lpstr>
      <vt:lpstr>                              bisect moduli</vt:lpstr>
      <vt:lpstr>Презентация PowerPoint</vt:lpstr>
      <vt:lpstr>Презентация PowerPoint</vt:lpstr>
      <vt:lpstr>                          </vt:lpstr>
      <vt:lpstr>Презентация PowerPoint</vt:lpstr>
      <vt:lpstr>Презентация PowerPoint</vt:lpstr>
      <vt:lpstr>                         Bonus: Luhn algoritmi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360</cp:revision>
  <dcterms:created xsi:type="dcterms:W3CDTF">2021-01-26T11:27:43Z</dcterms:created>
  <dcterms:modified xsi:type="dcterms:W3CDTF">2021-06-03T08:32:37Z</dcterms:modified>
</cp:coreProperties>
</file>